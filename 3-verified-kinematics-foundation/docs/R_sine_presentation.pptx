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F5FA508-BCCC-4A89-814E-AD93C7D2C3C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1143000" y="685800"/>
            <a:ext cx="4571640" cy="3428640"/>
          </a:xfrm>
          <a:prstGeom prst="rect">
            <a:avLst/>
          </a:prstGeom>
          <a:ln w="0">
            <a:noFill/>
          </a:ln>
        </p:spPr>
      </p:sp>
      <p:sp>
        <p:nvSpPr>
          <p:cNvPr id="12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Start here. 'My project makes a 6-DOF myCobot 280 arm draw a sine wave on a board. What makes it rigorous is that I derived the kinematics myself using the modified DH method from our course, built the Jacobian by velocity propagation, and solved the inverse kinematics with damped least squares — then I verified every piece against an independent library. It all runs in ROS 2.'</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Why a sine wave?</a:t>
            </a:r>
            <a:br>
              <a:rPr sz="2000"/>
            </a:br>
            <a:r>
              <a:rPr b="0" lang="en-US" sz="2000" spc="-1" strike="noStrike">
                <a:solidFill>
                  <a:srgbClr val="000000"/>
                </a:solidFill>
                <a:latin typeface="Arial"/>
              </a:rPr>
              <a:t>A: It is a smooth, continuously-curving path that exercises all axes and makes tracking accuracy easy to see — a good test of the full FK/Jacobian/IK pipeline.</a:t>
            </a:r>
            <a:endParaRPr b="0" lang="en-US" sz="2000" spc="-1" strike="noStrike">
              <a:solidFill>
                <a:srgbClr val="000000"/>
              </a:solidFill>
              <a:latin typeface="Arial"/>
            </a:endParaRPr>
          </a:p>
        </p:txBody>
      </p:sp>
      <p:sp>
        <p:nvSpPr>
          <p:cNvPr id="122"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992F3CA-612A-44C7-8966-00EA76A377D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1143000" y="685800"/>
            <a:ext cx="4571640" cy="3428640"/>
          </a:xfrm>
          <a:prstGeom prst="rect">
            <a:avLst/>
          </a:prstGeom>
          <a:ln w="0">
            <a:noFill/>
          </a:ln>
        </p:spPr>
      </p:sp>
      <p:sp>
        <p:nvSpPr>
          <p:cNvPr id="12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project is built around the three standard problems: forward kinematics, the Jacobian, and inverse kinematics. I generate the sine as a list of 3D target points, solve inverse kinematics for each point to get joint angles, and play that back on the robot.'</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What is the difference between forward and inverse kinematics?</a:t>
            </a:r>
            <a:br>
              <a:rPr sz="2000"/>
            </a:br>
            <a:r>
              <a:rPr b="0" lang="en-US" sz="2000" spc="-1" strike="noStrike">
                <a:solidFill>
                  <a:srgbClr val="000000"/>
                </a:solidFill>
                <a:latin typeface="Arial"/>
              </a:rPr>
              <a:t>A: Forward: joints -&gt; pose (one unique answer). Inverse: pose -&gt; joints (can have several answers or none if unreachable).</a:t>
            </a:r>
            <a:endParaRPr b="0" lang="en-US" sz="2000" spc="-1" strike="noStrike">
              <a:solidFill>
                <a:srgbClr val="000000"/>
              </a:solidFill>
              <a:latin typeface="Arial"/>
            </a:endParaRPr>
          </a:p>
        </p:txBody>
      </p:sp>
      <p:sp>
        <p:nvSpPr>
          <p:cNvPr id="125"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BAF308F-8D75-4D09-A863-6DA5EF9B1D9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1143000" y="685800"/>
            <a:ext cx="4571640" cy="3428640"/>
          </a:xfrm>
          <a:prstGeom prst="rect">
            <a:avLst/>
          </a:prstGeom>
          <a:ln w="0">
            <a:noFill/>
          </a:ln>
        </p:spPr>
      </p:sp>
      <p:sp>
        <p:nvSpPr>
          <p:cNvPr id="12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 use the modified DH convention from class. Each joint is described by four numbers — twist, length, offset, and angle — and each link transform is this product of a rotation and translation about x then z. Multiplying them gives the forward kinematics.'</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Why modified DH and not standard DH?</a:t>
            </a:r>
            <a:br>
              <a:rPr sz="2000"/>
            </a:br>
            <a:r>
              <a:rPr b="0" lang="en-US" sz="2000" spc="-1" strike="noStrike">
                <a:solidFill>
                  <a:srgbClr val="000000"/>
                </a:solidFill>
                <a:latin typeface="Arial"/>
              </a:rPr>
              <a:t>A: Modified DH places the frame at the proximal joint, which many textbooks (Craig) use; it is the convention in my reference notes. Both are valid.</a:t>
            </a:r>
            <a:endParaRPr b="0" lang="en-US" sz="2000" spc="-1" strike="noStrike">
              <a:solidFill>
                <a:srgbClr val="000000"/>
              </a:solidFill>
              <a:latin typeface="Arial"/>
            </a:endParaRPr>
          </a:p>
        </p:txBody>
      </p:sp>
      <p:sp>
        <p:nvSpPr>
          <p:cNvPr id="128"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D2D44FF-387C-4757-9DAD-18CF461FD02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1143000" y="685800"/>
            <a:ext cx="4571640" cy="3428640"/>
          </a:xfrm>
          <a:prstGeom prst="rect">
            <a:avLst/>
          </a:prstGeom>
          <a:ln w="0">
            <a:noFill/>
          </a:ln>
        </p:spPr>
      </p:sp>
      <p:sp>
        <p:nvSpPr>
          <p:cNvPr id="13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'This table is the heart of the model. The official URDF doesn't come with DH parameters, so I identified them by fitting the four numbers per joint until my DH forward kinematics matched the URDF exactly — the error is 1e-15 meters, essentially machine zero. So the table is provably correct, not guessed.'</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How do you know the table is right?</a:t>
            </a:r>
            <a:br>
              <a:rPr sz="2000"/>
            </a:br>
            <a:r>
              <a:rPr b="0" lang="en-US" sz="2000" spc="-1" strike="noStrike">
                <a:solidFill>
                  <a:srgbClr val="000000"/>
                </a:solidFill>
                <a:latin typeface="Arial"/>
              </a:rPr>
              <a:t>A: Its forward kinematics matches the manufacturer URDF to ~1e-15 m over 5000 random joint configurations, and also matches ikpy to ~1e-16 m.</a:t>
            </a:r>
            <a:endParaRPr b="0" lang="en-US" sz="2000" spc="-1" strike="noStrike">
              <a:solidFill>
                <a:srgbClr val="000000"/>
              </a:solidFill>
              <a:latin typeface="Arial"/>
            </a:endParaRPr>
          </a:p>
        </p:txBody>
      </p:sp>
      <p:sp>
        <p:nvSpPr>
          <p:cNvPr id="131"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39253A4-4D1D-455B-8AD3-2F391677BC3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1143000" y="685800"/>
            <a:ext cx="4571640" cy="3428640"/>
          </a:xfrm>
          <a:prstGeom prst="rect">
            <a:avLst/>
          </a:prstGeom>
          <a:ln w="0">
            <a:noFill/>
          </a:ln>
        </p:spPr>
      </p:sp>
      <p:sp>
        <p:nvSpPr>
          <p:cNvPr id="13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'Forward kinematics is just the product of the six link transforms. Here's the arm at its home pose with the frame at every joint. When I feed the same joints to ikpy, it lands on the identical position — so my FK is correct.'</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What frame is the tool?</a:t>
            </a:r>
            <a:br>
              <a:rPr sz="2000"/>
            </a:br>
            <a:r>
              <a:rPr b="0" lang="en-US" sz="2000" spc="-1" strike="noStrike">
                <a:solidFill>
                  <a:srgbClr val="000000"/>
                </a:solidFill>
                <a:latin typeface="Arial"/>
              </a:rPr>
              <a:t>A: link6_flange — the output flange where a pen or gripper mounts.</a:t>
            </a:r>
            <a:endParaRPr b="0" lang="en-US" sz="2000" spc="-1" strike="noStrike">
              <a:solidFill>
                <a:srgbClr val="000000"/>
              </a:solidFill>
              <a:latin typeface="Arial"/>
            </a:endParaRPr>
          </a:p>
        </p:txBody>
      </p:sp>
      <p:sp>
        <p:nvSpPr>
          <p:cNvPr id="134"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9028B0D-C8CB-411D-9C5D-4626A5B375A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1143000" y="685800"/>
            <a:ext cx="4571640" cy="3428640"/>
          </a:xfrm>
          <a:prstGeom prst="rect">
            <a:avLst/>
          </a:prstGeom>
          <a:ln w="0">
            <a:noFill/>
          </a:ln>
        </p:spPr>
      </p:sp>
      <p:sp>
        <p:nvSpPr>
          <p:cNvPr id="13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'For the Jacobian I used the velocity-propagation method from the notes — you push the angular and linear velocity outward joint by joint. For revolute joints it simplifies to this cross-product form. I checked it against a numerical Jacobian and it agrees to seven decimal places.'</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What is the Jacobian used for here?</a:t>
            </a:r>
            <a:br>
              <a:rPr sz="2000"/>
            </a:br>
            <a:r>
              <a:rPr b="0" lang="en-US" sz="2000" spc="-1" strike="noStrike">
                <a:solidFill>
                  <a:srgbClr val="000000"/>
                </a:solidFill>
                <a:latin typeface="Arial"/>
              </a:rPr>
              <a:t>A: It drives the inverse kinematics — each IK step multiplies a damped inverse of J by the pose error to update the joint angles.</a:t>
            </a:r>
            <a:endParaRPr b="0" lang="en-US" sz="2000" spc="-1" strike="noStrike">
              <a:solidFill>
                <a:srgbClr val="000000"/>
              </a:solidFill>
              <a:latin typeface="Arial"/>
            </a:endParaRPr>
          </a:p>
        </p:txBody>
      </p:sp>
      <p:sp>
        <p:nvSpPr>
          <p:cNvPr id="137"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3151B8B-6EC0-4AD3-895C-1B2B67EDF60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sldImg"/>
          </p:nvPr>
        </p:nvSpPr>
        <p:spPr>
          <a:xfrm>
            <a:off x="1143000" y="685800"/>
            <a:ext cx="4571640" cy="3428640"/>
          </a:xfrm>
          <a:prstGeom prst="rect">
            <a:avLst/>
          </a:prstGeom>
          <a:ln w="0">
            <a:noFill/>
          </a:ln>
        </p:spPr>
      </p:sp>
      <p:sp>
        <p:nvSpPr>
          <p:cNvPr id="13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'This is the reachable workspace — every point the tool can reach — from three views. The red sine is my drawing target, and you can see it sits comfortably inside. This is also how I chose where to put the board: somewhere the arm can comfortably reach.'</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Why not draw further out or on the table?</a:t>
            </a:r>
            <a:br>
              <a:rPr sz="2000"/>
            </a:br>
            <a:r>
              <a:rPr b="0" lang="en-US" sz="2000" spc="-1" strike="noStrike">
                <a:solidFill>
                  <a:srgbClr val="000000"/>
                </a:solidFill>
                <a:latin typeface="Arial"/>
              </a:rPr>
              <a:t>A: This is a small arm; keeping the pen perpendicular to a far or downward surface exceeds its reach. The vertical board close in is fully reachable.</a:t>
            </a:r>
            <a:endParaRPr b="0" lang="en-US" sz="2000" spc="-1" strike="noStrike">
              <a:solidFill>
                <a:srgbClr val="000000"/>
              </a:solidFill>
              <a:latin typeface="Arial"/>
            </a:endParaRPr>
          </a:p>
        </p:txBody>
      </p:sp>
      <p:sp>
        <p:nvSpPr>
          <p:cNvPr id="140"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60F900A-66E1-4A55-A5A3-39C57D6B8A1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1143000" y="685800"/>
            <a:ext cx="4571640" cy="3428640"/>
          </a:xfrm>
          <a:prstGeom prst="rect">
            <a:avLst/>
          </a:prstGeom>
          <a:ln w="0">
            <a:noFill/>
          </a:ln>
        </p:spPr>
      </p:sp>
      <p:sp>
        <p:nvSpPr>
          <p:cNvPr id="14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 solve inverse kinematics with damped least squares. Each iteration nudges the joints by a damped inverse of the Jacobian times the pose error. The damping is what keeps it stable near singularities. It converges in about 16 steps per point and always respects the joint limits.'</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Why damped, not the plain Jacobian inverse?</a:t>
            </a:r>
            <a:br>
              <a:rPr sz="2000"/>
            </a:br>
            <a:r>
              <a:rPr b="0" lang="en-US" sz="2000" spc="-1" strike="noStrike">
                <a:solidFill>
                  <a:srgbClr val="000000"/>
                </a:solidFill>
                <a:latin typeface="Arial"/>
              </a:rPr>
              <a:t>A: Near singularities the plain inverse blows up. Damping trades a negligible position error for numerical stability.</a:t>
            </a:r>
            <a:endParaRPr b="0" lang="en-US" sz="2000" spc="-1" strike="noStrike">
              <a:solidFill>
                <a:srgbClr val="000000"/>
              </a:solidFill>
              <a:latin typeface="Arial"/>
            </a:endParaRPr>
          </a:p>
        </p:txBody>
      </p:sp>
      <p:sp>
        <p:nvSpPr>
          <p:cNvPr id="143"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203AD95-2294-4616-B912-4347A1A68B2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1143000" y="685800"/>
            <a:ext cx="4571640" cy="3428640"/>
          </a:xfrm>
          <a:prstGeom prst="rect">
            <a:avLst/>
          </a:prstGeom>
          <a:ln w="0">
            <a:noFill/>
          </a:ln>
        </p:spPr>
      </p:sp>
      <p:sp>
        <p:nvSpPr>
          <p:cNvPr id="14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plane is general. I define it by an origin and two axes — one to advance along, one for the wave. The pen is kept perpendicular to the surface. So the same code draws on a vertical board or a flat plate; I just change the parameters at launch.'</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Could it draw a different shape?</a:t>
            </a:r>
            <a:br>
              <a:rPr sz="2000"/>
            </a:br>
            <a:r>
              <a:rPr b="0" lang="en-US" sz="2000" spc="-1" strike="noStrike">
                <a:solidFill>
                  <a:srgbClr val="000000"/>
                </a:solidFill>
                <a:latin typeface="Arial"/>
              </a:rPr>
              <a:t>A: Yes — only the path generator changes; the FK/Jacobian/IK pipeline is the same.</a:t>
            </a:r>
            <a:endParaRPr b="0" lang="en-US" sz="2000" spc="-1" strike="noStrike">
              <a:solidFill>
                <a:srgbClr val="000000"/>
              </a:solidFill>
              <a:latin typeface="Arial"/>
            </a:endParaRPr>
          </a:p>
        </p:txBody>
      </p:sp>
      <p:sp>
        <p:nvSpPr>
          <p:cNvPr id="146"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19AE129-288C-4E12-8401-644DD9AD741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1143000" y="685800"/>
            <a:ext cx="4571640" cy="3428640"/>
          </a:xfrm>
          <a:prstGeom prst="rect">
            <a:avLst/>
          </a:prstGeom>
          <a:ln w="0">
            <a:noFill/>
          </a:ln>
        </p:spPr>
      </p:sp>
      <p:sp>
        <p:nvSpPr>
          <p:cNvPr id="14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'And here's the result — the arm drawing the two-cycle sine, shown as a progression. The red line is what the tool actually traces. It matches the intended curve to under a millimetre, and the pen stays perpendicular to the board the entire time.'</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Is this simulation or the real robot?</a:t>
            </a:r>
            <a:br>
              <a:rPr sz="2000"/>
            </a:br>
            <a:r>
              <a:rPr b="0" lang="en-US" sz="2000" spc="-1" strike="noStrike">
                <a:solidFill>
                  <a:srgbClr val="000000"/>
                </a:solidFill>
                <a:latin typeface="Arial"/>
              </a:rPr>
              <a:t>A: Simulation in RViz with the exact robot model; the design is hardware-ready since it uses the real URDF joint names and limits.</a:t>
            </a:r>
            <a:endParaRPr b="0" lang="en-US" sz="2000" spc="-1" strike="noStrike">
              <a:solidFill>
                <a:srgbClr val="000000"/>
              </a:solidFill>
              <a:latin typeface="Arial"/>
            </a:endParaRPr>
          </a:p>
        </p:txBody>
      </p:sp>
      <p:sp>
        <p:nvSpPr>
          <p:cNvPr id="149"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F42256E-898D-419A-89CC-EF05DB152F7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1143000" y="685800"/>
            <a:ext cx="4571640" cy="3428640"/>
          </a:xfrm>
          <a:prstGeom prst="rect">
            <a:avLst/>
          </a:prstGeom>
          <a:ln w="0">
            <a:noFill/>
          </a:ln>
        </p:spPr>
      </p:sp>
      <p:sp>
        <p:nvSpPr>
          <p:cNvPr id="15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'These are the numbers I'd stake the project on. Forward kinematics is exact to machine precision, the Jacobian to seven digits, and the drawn path tracks to about a micron. The error plot stays a thousand times under a millimetre.'</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0.001 mm seems too good — is it real?</a:t>
            </a:r>
            <a:br>
              <a:rPr sz="2000"/>
            </a:br>
            <a:r>
              <a:rPr b="0" lang="en-US" sz="2000" spc="-1" strike="noStrike">
                <a:solidFill>
                  <a:srgbClr val="000000"/>
                </a:solidFill>
                <a:latin typeface="Arial"/>
              </a:rPr>
              <a:t>A: It is the numerical tracking error of the solver in simulation. On real hardware, encoder resolution and calibration would dominate; this bounds the algorithm's own contribution.</a:t>
            </a:r>
            <a:endParaRPr b="0" lang="en-US" sz="2000" spc="-1" strike="noStrike">
              <a:solidFill>
                <a:srgbClr val="000000"/>
              </a:solidFill>
              <a:latin typeface="Arial"/>
            </a:endParaRPr>
          </a:p>
        </p:txBody>
      </p:sp>
      <p:sp>
        <p:nvSpPr>
          <p:cNvPr id="152"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4C805C6-A436-439C-A077-F4E9A543705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1143000" y="685800"/>
            <a:ext cx="4571640" cy="3428640"/>
          </a:xfrm>
          <a:prstGeom prst="rect">
            <a:avLst/>
          </a:prstGeom>
          <a:ln w="0">
            <a:noFill/>
          </a:ln>
        </p:spPr>
      </p:sp>
      <p:sp>
        <p:nvSpPr>
          <p:cNvPr id="1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'Finally, a sanity check against an independent library, ikpy. Every comparison — forward kinematics, Jacobian, inverse kinematics — agrees far below a millimetre, and both methods draw the same sine. Two independent implementations agreeing is my strongest evidence the math is right.'</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If ikpy exists, why write your own?</a:t>
            </a:r>
            <a:br>
              <a:rPr sz="2000"/>
            </a:br>
            <a:r>
              <a:rPr b="0" lang="en-US" sz="2000" spc="-1" strike="noStrike">
                <a:solidFill>
                  <a:srgbClr val="000000"/>
                </a:solidFill>
                <a:latin typeface="Arial"/>
              </a:rPr>
              <a:t>A: To understand and control the math, handle orientation and limits my way, and have a solver that matches the course methodology — with ikpy only as a check.</a:t>
            </a:r>
            <a:endParaRPr b="0" lang="en-US" sz="2000" spc="-1" strike="noStrike">
              <a:solidFill>
                <a:srgbClr val="000000"/>
              </a:solidFill>
              <a:latin typeface="Arial"/>
            </a:endParaRPr>
          </a:p>
        </p:txBody>
      </p:sp>
      <p:sp>
        <p:nvSpPr>
          <p:cNvPr id="155"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C62DD07-1752-45AD-8C15-652C336A917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1143000" y="685800"/>
            <a:ext cx="4571640" cy="3428640"/>
          </a:xfrm>
          <a:prstGeom prst="rect">
            <a:avLst/>
          </a:prstGeom>
          <a:ln w="0">
            <a:noFill/>
          </a:ln>
        </p:spPr>
      </p:sp>
      <p:sp>
        <p:nvSpPr>
          <p:cNvPr id="1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'Software-wise, the math is in plain Python modules with no ROS, so I can unit-test them. Then two small ROS nodes: one streams the joint trajectory, the other records the drawn line. A single launch file brings up the robot and RViz.</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Why precompute the trajectory instead of solving live?</a:t>
            </a:r>
            <a:br>
              <a:rPr sz="2000"/>
            </a:br>
            <a:r>
              <a:rPr b="0" lang="en-US" sz="2000" spc="-1" strike="noStrike">
                <a:solidFill>
                  <a:srgbClr val="000000"/>
                </a:solidFill>
                <a:latin typeface="Arial"/>
              </a:rPr>
              <a:t>A: The sine is fixed, so solving once and replaying is smooth and cheap; live IK would just repeat the same work every loop.</a:t>
            </a:r>
            <a:endParaRPr b="0" lang="en-US" sz="2000" spc="-1" strike="noStrike">
              <a:solidFill>
                <a:srgbClr val="000000"/>
              </a:solidFill>
              <a:latin typeface="Arial"/>
            </a:endParaRPr>
          </a:p>
        </p:txBody>
      </p:sp>
      <p:sp>
        <p:nvSpPr>
          <p:cNvPr id="158"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1238A8D-84DE-416F-9CB6-4EFF6EEF715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1143000" y="685800"/>
            <a:ext cx="4571640" cy="3428640"/>
          </a:xfrm>
          <a:prstGeom prst="rect">
            <a:avLst/>
          </a:prstGeom>
          <a:ln w="0">
            <a:noFill/>
          </a:ln>
        </p:spPr>
      </p:sp>
      <p:sp>
        <p:nvSpPr>
          <p:cNvPr id="1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TO SAY:</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'To conclude: I built the kinematics from scratch, verified every stage, and used it to draw a sine on a board in ROS 2. It generalizes to other surfaces and shapes. Next I'd move to the physical arm with a real pen and add Gazebo physics. Thank you — happy to take questions.'</a:t>
            </a:r>
            <a:endParaRPr b="0" lang="en-US" sz="2000" spc="-1" strike="noStrike">
              <a:solidFill>
                <a:srgbClr val="000000"/>
              </a:solidFill>
              <a:latin typeface="Arial"/>
            </a:endParaRPr>
          </a:p>
          <a:p>
            <a:pPr marL="216000" indent="0">
              <a:lnSpc>
                <a:spcPct val="100000"/>
              </a:lnSpc>
              <a:buNone/>
            </a:pPr>
            <a:br>
              <a:rPr sz="2000"/>
            </a:br>
            <a:r>
              <a:rPr b="0" lang="en-US" sz="2000" spc="-1" strike="noStrike">
                <a:solidFill>
                  <a:srgbClr val="000000"/>
                </a:solidFill>
                <a:latin typeface="Arial"/>
              </a:rPr>
              <a:t>Q: What was the hardest part?</a:t>
            </a:r>
            <a:br>
              <a:rPr sz="2000"/>
            </a:br>
            <a:r>
              <a:rPr b="0" lang="en-US" sz="2000" spc="-1" strike="noStrike">
                <a:solidFill>
                  <a:srgbClr val="000000"/>
                </a:solidFill>
                <a:latin typeface="Arial"/>
              </a:rPr>
              <a:t>A: Identifying a correct, physically clean DH table from a URDF that isn't in DH form — solved by fitting and verifying to machine precision.</a:t>
            </a:r>
            <a:endParaRPr b="0" lang="en-US" sz="2000" spc="-1" strike="noStrike">
              <a:solidFill>
                <a:srgbClr val="000000"/>
              </a:solidFill>
              <a:latin typeface="Arial"/>
            </a:endParaRPr>
          </a:p>
        </p:txBody>
      </p:sp>
      <p:sp>
        <p:nvSpPr>
          <p:cNvPr id="161"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9D7E0FA-0823-49BF-9AD8-3CF0D2AB02E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F0B1C65-72E1-42DE-85D9-BBC7D7AD1ED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DCF22F7-178F-4E74-9BAC-616CB519CE75}"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4CC38AA6-CF1E-423A-B633-6BC463F8762B}"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5F9F0592-6CF2-4DD9-87CF-97F272F255E2}"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F05B05BA-E5CA-4A33-96E4-29E10076E46B}"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B808A6DF-9AC9-40A5-846B-7989231A66AA}"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B2D6A1D-85ED-4A97-8229-CCDD18FCAF92}"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55E89325-267F-49E9-8F71-B09A23C839F2}"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35EF171A-F468-4C60-AE0B-17866D239FE9}"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8A02EBDF-23BE-42AB-8828-1F36C3D23990}"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7B6CDB31-82A6-4FDC-8E13-6C75806D3707}"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86720E0-50D8-48E0-BE9A-51FA89C5A8B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a:t>
            </a:r>
            <a:r>
              <a:rPr b="0" lang="en-US" sz="4400" spc="-1" strike="noStrike">
                <a:solidFill>
                  <a:schemeClr val="dk1"/>
                </a:solidFill>
                <a:latin typeface="Calibri"/>
              </a:rPr>
              <a:t>k to </a:t>
            </a:r>
            <a:r>
              <a:rPr b="0" lang="en-US" sz="4400" spc="-1" strike="noStrike">
                <a:solidFill>
                  <a:schemeClr val="dk1"/>
                </a:solidFill>
                <a:latin typeface="Calibri"/>
              </a:rPr>
              <a:t>edit </a:t>
            </a:r>
            <a:r>
              <a:rPr b="0" lang="en-US" sz="4400" spc="-1" strike="noStrike">
                <a:solidFill>
                  <a:schemeClr val="dk1"/>
                </a:solidFill>
                <a:latin typeface="Calibri"/>
              </a:rPr>
              <a:t>Mas</a:t>
            </a:r>
            <a:r>
              <a:rPr b="0" lang="en-US" sz="4400" spc="-1" strike="noStrike">
                <a:solidFill>
                  <a:schemeClr val="dk1"/>
                </a:solidFill>
                <a:latin typeface="Calibri"/>
              </a:rPr>
              <a:t>ter </a:t>
            </a:r>
            <a:r>
              <a:rPr b="0" lang="en-US" sz="4400" spc="-1" strike="noStrike">
                <a:solidFill>
                  <a:schemeClr val="dk1"/>
                </a:solidFill>
                <a:latin typeface="Calibri"/>
              </a:rPr>
              <a:t>title </a:t>
            </a:r>
            <a:r>
              <a:rPr b="0" lang="en-US" sz="4400" spc="-1" strike="noStrike">
                <a:solidFill>
                  <a:schemeClr val="dk1"/>
                </a:solidFill>
                <a:latin typeface="Calibri"/>
              </a:rPr>
              <a:t>styl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137DED5-7735-41E1-8770-DB723041381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li</a:t>
            </a:r>
            <a:r>
              <a:rPr b="0" lang="en-US" sz="4400" spc="-1" strike="noStrike">
                <a:solidFill>
                  <a:schemeClr val="dk1"/>
                </a:solidFill>
                <a:latin typeface="Calibri"/>
              </a:rPr>
              <a:t>c</a:t>
            </a:r>
            <a:r>
              <a:rPr b="0" lang="en-US" sz="4400" spc="-1" strike="noStrike">
                <a:solidFill>
                  <a:schemeClr val="dk1"/>
                </a:solidFill>
                <a:latin typeface="Calibri"/>
              </a:rPr>
              <a:t>k </a:t>
            </a:r>
            <a:r>
              <a:rPr b="0" lang="en-US" sz="4400" spc="-1" strike="noStrike">
                <a:solidFill>
                  <a:schemeClr val="dk1"/>
                </a:solidFill>
                <a:latin typeface="Calibri"/>
              </a:rPr>
              <a:t>t</a:t>
            </a:r>
            <a:r>
              <a:rPr b="0" lang="en-US" sz="4400" spc="-1" strike="noStrike">
                <a:solidFill>
                  <a:schemeClr val="dk1"/>
                </a:solidFill>
                <a:latin typeface="Calibri"/>
              </a:rPr>
              <a:t>o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 </a:t>
            </a:r>
            <a:r>
              <a:rPr b="0" lang="en-US" sz="4400" spc="-1" strike="noStrike">
                <a:solidFill>
                  <a:schemeClr val="dk1"/>
                </a:solidFill>
                <a:latin typeface="Calibri"/>
              </a:rPr>
              <a:t>ti</a:t>
            </a:r>
            <a:r>
              <a:rPr b="0" lang="en-US" sz="4400" spc="-1" strike="noStrike">
                <a:solidFill>
                  <a:schemeClr val="dk1"/>
                </a:solidFill>
                <a:latin typeface="Calibri"/>
              </a:rPr>
              <a:t>tl</a:t>
            </a:r>
            <a:r>
              <a:rPr b="0" lang="en-US" sz="4400" spc="-1" strike="noStrike">
                <a:solidFill>
                  <a:schemeClr val="dk1"/>
                </a:solidFill>
                <a:latin typeface="Calibri"/>
              </a:rPr>
              <a:t>e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a:t>
            </a:r>
            <a:r>
              <a:rPr b="0" lang="en-US" sz="4400" spc="-1" strike="noStrike">
                <a:solidFill>
                  <a:schemeClr val="dk1"/>
                </a:solidFill>
                <a:latin typeface="Calibri"/>
              </a:rPr>
              <a:t>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3F867E0-73D4-4CA7-9341-1AF48DCACDE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a:t>
            </a:r>
            <a:r>
              <a:rPr b="0" lang="en-US" sz="4400" spc="-1" strike="noStrike">
                <a:solidFill>
                  <a:schemeClr val="dk1"/>
                </a:solidFill>
                <a:latin typeface="Calibri"/>
              </a:rPr>
              <a:t>k to </a:t>
            </a:r>
            <a:r>
              <a:rPr b="0" lang="en-US" sz="4400" spc="-1" strike="noStrike">
                <a:solidFill>
                  <a:schemeClr val="dk1"/>
                </a:solidFill>
                <a:latin typeface="Calibri"/>
              </a:rPr>
              <a:t>edit </a:t>
            </a:r>
            <a:r>
              <a:rPr b="0" lang="en-US" sz="4400" spc="-1" strike="noStrike">
                <a:solidFill>
                  <a:schemeClr val="dk1"/>
                </a:solidFill>
                <a:latin typeface="Calibri"/>
              </a:rPr>
              <a:t>Mas</a:t>
            </a:r>
            <a:r>
              <a:rPr b="0" lang="en-US" sz="4400" spc="-1" strike="noStrike">
                <a:solidFill>
                  <a:schemeClr val="dk1"/>
                </a:solidFill>
                <a:latin typeface="Calibri"/>
              </a:rPr>
              <a:t>ter </a:t>
            </a:r>
            <a:r>
              <a:rPr b="0" lang="en-US" sz="4400" spc="-1" strike="noStrike">
                <a:solidFill>
                  <a:schemeClr val="dk1"/>
                </a:solidFill>
                <a:latin typeface="Calibri"/>
              </a:rPr>
              <a:t>title </a:t>
            </a:r>
            <a:r>
              <a:rPr b="0" lang="en-US" sz="4400" spc="-1" strike="noStrike">
                <a:solidFill>
                  <a:schemeClr val="dk1"/>
                </a:solidFill>
                <a:latin typeface="Calibri"/>
              </a:rPr>
              <a:t>styl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D296DEE-B661-4587-B8CA-AF5EB3997F1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a:t>
            </a:r>
            <a:r>
              <a:rPr b="1" lang="en-US" sz="4000" spc="-1" strike="noStrike" cap="all">
                <a:solidFill>
                  <a:schemeClr val="dk1"/>
                </a:solidFill>
                <a:latin typeface="Calibri"/>
              </a:rPr>
              <a:t>k to </a:t>
            </a:r>
            <a:r>
              <a:rPr b="1" lang="en-US" sz="4000" spc="-1" strike="noStrike" cap="all">
                <a:solidFill>
                  <a:schemeClr val="dk1"/>
                </a:solidFill>
                <a:latin typeface="Calibri"/>
              </a:rPr>
              <a:t>edit </a:t>
            </a:r>
            <a:r>
              <a:rPr b="1" lang="en-US" sz="4000" spc="-1" strike="noStrike" cap="all">
                <a:solidFill>
                  <a:schemeClr val="dk1"/>
                </a:solidFill>
                <a:latin typeface="Calibri"/>
              </a:rPr>
              <a:t>Mas</a:t>
            </a:r>
            <a:r>
              <a:rPr b="1" lang="en-US" sz="4000" spc="-1" strike="noStrike" cap="all">
                <a:solidFill>
                  <a:schemeClr val="dk1"/>
                </a:solidFill>
                <a:latin typeface="Calibri"/>
              </a:rPr>
              <a:t>ter </a:t>
            </a:r>
            <a:r>
              <a:rPr b="1" lang="en-US" sz="4000" spc="-1" strike="noStrike" cap="all">
                <a:solidFill>
                  <a:schemeClr val="dk1"/>
                </a:solidFill>
                <a:latin typeface="Calibri"/>
              </a:rPr>
              <a:t>titl</a:t>
            </a:r>
            <a:r>
              <a:rPr b="1" lang="en-US" sz="4000" spc="-1" strike="noStrike" cap="all">
                <a:solidFill>
                  <a:schemeClr val="dk1"/>
                </a:solidFill>
                <a:latin typeface="Calibri"/>
              </a:rPr>
              <a:t>e </a:t>
            </a:r>
            <a:r>
              <a:rPr b="1" lang="en-US" sz="4000" spc="-1" strike="noStrike" cap="all">
                <a:solidFill>
                  <a:schemeClr val="dk1"/>
                </a:solidFill>
                <a:latin typeface="Calibri"/>
              </a:rPr>
              <a:t>styl</a:t>
            </a:r>
            <a:r>
              <a:rPr b="1" lang="en-US" sz="4000" spc="-1" strike="noStrike" cap="all">
                <a:solidFill>
                  <a:schemeClr val="dk1"/>
                </a:solidFill>
                <a:latin typeface="Calibri"/>
              </a:rPr>
              <a:t>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0831497-19E9-4D26-8A98-B70381098A2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a:t>
            </a:r>
            <a:r>
              <a:rPr b="0" lang="en-US" sz="4400" spc="-1" strike="noStrike">
                <a:solidFill>
                  <a:schemeClr val="dk1"/>
                </a:solidFill>
                <a:latin typeface="Calibri"/>
              </a:rPr>
              <a:t>k to </a:t>
            </a:r>
            <a:r>
              <a:rPr b="0" lang="en-US" sz="4400" spc="-1" strike="noStrike">
                <a:solidFill>
                  <a:schemeClr val="dk1"/>
                </a:solidFill>
                <a:latin typeface="Calibri"/>
              </a:rPr>
              <a:t>edit </a:t>
            </a:r>
            <a:r>
              <a:rPr b="0" lang="en-US" sz="4400" spc="-1" strike="noStrike">
                <a:solidFill>
                  <a:schemeClr val="dk1"/>
                </a:solidFill>
                <a:latin typeface="Calibri"/>
              </a:rPr>
              <a:t>Mas</a:t>
            </a:r>
            <a:r>
              <a:rPr b="0" lang="en-US" sz="4400" spc="-1" strike="noStrike">
                <a:solidFill>
                  <a:schemeClr val="dk1"/>
                </a:solidFill>
                <a:latin typeface="Calibri"/>
              </a:rPr>
              <a:t>ter </a:t>
            </a:r>
            <a:r>
              <a:rPr b="0" lang="en-US" sz="4400" spc="-1" strike="noStrike">
                <a:solidFill>
                  <a:schemeClr val="dk1"/>
                </a:solidFill>
                <a:latin typeface="Calibri"/>
              </a:rPr>
              <a:t>title </a:t>
            </a:r>
            <a:r>
              <a:rPr b="0" lang="en-US" sz="4400" spc="-1" strike="noStrike">
                <a:solidFill>
                  <a:schemeClr val="dk1"/>
                </a:solidFill>
                <a:latin typeface="Calibri"/>
              </a:rPr>
              <a:t>styl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BBDFF05-9CF5-408E-B121-BDB1963BE1F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a:t>
            </a:r>
            <a:r>
              <a:rPr b="0" lang="en-US" sz="4400" spc="-1" strike="noStrike">
                <a:solidFill>
                  <a:schemeClr val="dk1"/>
                </a:solidFill>
                <a:latin typeface="Calibri"/>
              </a:rPr>
              <a:t>k to </a:t>
            </a:r>
            <a:r>
              <a:rPr b="0" lang="en-US" sz="4400" spc="-1" strike="noStrike">
                <a:solidFill>
                  <a:schemeClr val="dk1"/>
                </a:solidFill>
                <a:latin typeface="Calibri"/>
              </a:rPr>
              <a:t>edit </a:t>
            </a:r>
            <a:r>
              <a:rPr b="0" lang="en-US" sz="4400" spc="-1" strike="noStrike">
                <a:solidFill>
                  <a:schemeClr val="dk1"/>
                </a:solidFill>
                <a:latin typeface="Calibri"/>
              </a:rPr>
              <a:t>Mas</a:t>
            </a:r>
            <a:r>
              <a:rPr b="0" lang="en-US" sz="4400" spc="-1" strike="noStrike">
                <a:solidFill>
                  <a:schemeClr val="dk1"/>
                </a:solidFill>
                <a:latin typeface="Calibri"/>
              </a:rPr>
              <a:t>ter </a:t>
            </a:r>
            <a:r>
              <a:rPr b="0" lang="en-US" sz="4400" spc="-1" strike="noStrike">
                <a:solidFill>
                  <a:schemeClr val="dk1"/>
                </a:solidFill>
                <a:latin typeface="Calibri"/>
              </a:rPr>
              <a:t>title </a:t>
            </a:r>
            <a:r>
              <a:rPr b="0" lang="en-US" sz="4400" spc="-1" strike="noStrike">
                <a:solidFill>
                  <a:schemeClr val="dk1"/>
                </a:solidFill>
                <a:latin typeface="Calibri"/>
              </a:rPr>
              <a:t>styl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9291F15-E786-48DC-B225-219864A56EB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a:t>
            </a:r>
            <a:r>
              <a:rPr b="0" lang="en-US" sz="4400" spc="-1" strike="noStrike">
                <a:solidFill>
                  <a:schemeClr val="dk1"/>
                </a:solidFill>
                <a:latin typeface="Calibri"/>
              </a:rPr>
              <a:t>k to </a:t>
            </a:r>
            <a:r>
              <a:rPr b="0" lang="en-US" sz="4400" spc="-1" strike="noStrike">
                <a:solidFill>
                  <a:schemeClr val="dk1"/>
                </a:solidFill>
                <a:latin typeface="Calibri"/>
              </a:rPr>
              <a:t>edit </a:t>
            </a:r>
            <a:r>
              <a:rPr b="0" lang="en-US" sz="4400" spc="-1" strike="noStrike">
                <a:solidFill>
                  <a:schemeClr val="dk1"/>
                </a:solidFill>
                <a:latin typeface="Calibri"/>
              </a:rPr>
              <a:t>Mas</a:t>
            </a:r>
            <a:r>
              <a:rPr b="0" lang="en-US" sz="4400" spc="-1" strike="noStrike">
                <a:solidFill>
                  <a:schemeClr val="dk1"/>
                </a:solidFill>
                <a:latin typeface="Calibri"/>
              </a:rPr>
              <a:t>ter </a:t>
            </a:r>
            <a:r>
              <a:rPr b="0" lang="en-US" sz="4400" spc="-1" strike="noStrike">
                <a:solidFill>
                  <a:schemeClr val="dk1"/>
                </a:solidFill>
                <a:latin typeface="Calibri"/>
              </a:rPr>
              <a:t>title </a:t>
            </a:r>
            <a:r>
              <a:rPr b="0" lang="en-US" sz="4400" spc="-1" strike="noStrike">
                <a:solidFill>
                  <a:schemeClr val="dk1"/>
                </a:solidFill>
                <a:latin typeface="Calibri"/>
              </a:rPr>
              <a:t>styl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49C5FAC-DD32-422B-A6B9-D5A6A912D69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07BD2C5-1522-4141-AD8E-02B9727223A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5CDAA26-45F1-49D7-B80D-93C5729515D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1139CD0-40CF-4009-8CE2-FAD02257AC5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TextBox 1"/>
          <p:cNvSpPr/>
          <p:nvPr/>
        </p:nvSpPr>
        <p:spPr>
          <a:xfrm>
            <a:off x="731520" y="2011680"/>
            <a:ext cx="10698120" cy="13086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1f3a5f"/>
                </a:solidFill>
                <a:latin typeface="Calibri"/>
              </a:rPr>
              <a:t>R_sine — Drawing a Sine Wave with a myCobot 280</a:t>
            </a:r>
            <a:endParaRPr b="0" lang="en-US" sz="4000" spc="-1" strike="noStrike">
              <a:solidFill>
                <a:srgbClr val="000000"/>
              </a:solidFill>
              <a:latin typeface="Arial"/>
            </a:endParaRPr>
          </a:p>
        </p:txBody>
      </p:sp>
      <p:sp>
        <p:nvSpPr>
          <p:cNvPr id="74" name="TextBox 2"/>
          <p:cNvSpPr/>
          <p:nvPr/>
        </p:nvSpPr>
        <p:spPr>
          <a:xfrm>
            <a:off x="2055600" y="3566160"/>
            <a:ext cx="804960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rgbClr val="d62728"/>
                </a:solidFill>
                <a:latin typeface="Calibri"/>
              </a:rPr>
              <a:t>Analytical kinematics + inverse kinematics on a 6-DOF arm (ROS 2)</a:t>
            </a:r>
            <a:endParaRPr b="0" lang="en-US" sz="2000" spc="-1" strike="noStrike">
              <a:solidFill>
                <a:srgbClr val="000000"/>
              </a:solidFill>
              <a:latin typeface="Arial"/>
            </a:endParaRPr>
          </a:p>
        </p:txBody>
      </p:sp>
      <p:pic>
        <p:nvPicPr>
          <p:cNvPr id="75" name="Picture 3" descr="fig_home_pose.png"/>
          <p:cNvPicPr/>
          <p:nvPr/>
        </p:nvPicPr>
        <p:blipFill>
          <a:blip r:embed="rId1"/>
          <a:stretch/>
        </p:blipFill>
        <p:spPr>
          <a:xfrm>
            <a:off x="4023360" y="4297680"/>
            <a:ext cx="2584800" cy="21942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Objective and Method</a:t>
            </a:r>
            <a:endParaRPr b="0" lang="en-US" sz="3000" spc="-1" strike="noStrike">
              <a:solidFill>
                <a:srgbClr val="000000"/>
              </a:solidFill>
              <a:latin typeface="Arial"/>
            </a:endParaRPr>
          </a:p>
        </p:txBody>
      </p:sp>
      <p:sp>
        <p:nvSpPr>
          <p:cNvPr id="77" name="TextBox 2"/>
          <p:cNvSpPr/>
          <p:nvPr/>
        </p:nvSpPr>
        <p:spPr>
          <a:xfrm>
            <a:off x="640080" y="1554480"/>
            <a:ext cx="10881000" cy="1613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Forward kinematics: where is the tool, given the joint angles?</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Jacobian: how tool velocity relates to joint velocities</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Inverse kinematics: which joint angles reach a desired tool pose?</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Pipeline: sine path -&gt; IK per point -&gt; joint trajectory -&gt; RViz</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Modified (Craig) DH Convention</a:t>
            </a:r>
            <a:endParaRPr b="0" lang="en-US" sz="3000" spc="-1" strike="noStrike">
              <a:solidFill>
                <a:srgbClr val="000000"/>
              </a:solidFill>
              <a:latin typeface="Arial"/>
            </a:endParaRPr>
          </a:p>
        </p:txBody>
      </p:sp>
      <p:sp>
        <p:nvSpPr>
          <p:cNvPr id="79" name="TextBox 2"/>
          <p:cNvSpPr/>
          <p:nvPr/>
        </p:nvSpPr>
        <p:spPr>
          <a:xfrm>
            <a:off x="3867840" y="960120"/>
            <a:ext cx="44254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Four parameters relate each pair of link frames</a:t>
            </a:r>
            <a:endParaRPr b="0" lang="en-US" sz="1600" spc="-1" strike="noStrike">
              <a:solidFill>
                <a:srgbClr val="000000"/>
              </a:solidFill>
              <a:latin typeface="Arial"/>
            </a:endParaRPr>
          </a:p>
        </p:txBody>
      </p:sp>
      <p:sp>
        <p:nvSpPr>
          <p:cNvPr id="80" name="TextBox 3"/>
          <p:cNvSpPr/>
          <p:nvPr/>
        </p:nvSpPr>
        <p:spPr>
          <a:xfrm>
            <a:off x="640080" y="1554480"/>
            <a:ext cx="10881000" cy="2020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alpha_(i-1): link twist — angle between successive joint axes</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a_(i-1): link length — offset between successive joint axes</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d_i: link offset along the joint axis</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theta_i: joint angle (the variable for a revolute joint)</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Link transform: Rotx(alpha)·Transx(a)·Rotz(theta)·Transz(d)</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Identified DH Table (verified to 1e-15 m)</a:t>
            </a:r>
            <a:endParaRPr b="0" lang="en-US" sz="3000" spc="-1" strike="noStrike">
              <a:solidFill>
                <a:srgbClr val="000000"/>
              </a:solidFill>
              <a:latin typeface="Arial"/>
            </a:endParaRPr>
          </a:p>
        </p:txBody>
      </p:sp>
      <p:sp>
        <p:nvSpPr>
          <p:cNvPr id="82" name="TextBox 2"/>
          <p:cNvSpPr/>
          <p:nvPr/>
        </p:nvSpPr>
        <p:spPr>
          <a:xfrm>
            <a:off x="3977640" y="960120"/>
            <a:ext cx="42058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Fitted from the URDF, then checked against it</a:t>
            </a:r>
            <a:endParaRPr b="0" lang="en-US" sz="1600" spc="-1" strike="noStrike">
              <a:solidFill>
                <a:srgbClr val="000000"/>
              </a:solidFill>
              <a:latin typeface="Arial"/>
            </a:endParaRPr>
          </a:p>
        </p:txBody>
      </p:sp>
      <p:sp>
        <p:nvSpPr>
          <p:cNvPr id="83" name="TextBox 3"/>
          <p:cNvSpPr/>
          <p:nvPr/>
        </p:nvSpPr>
        <p:spPr>
          <a:xfrm>
            <a:off x="457200" y="1554480"/>
            <a:ext cx="11246760" cy="1431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700" spc="-1" strike="noStrike">
                <a:solidFill>
                  <a:srgbClr val="444444"/>
                </a:solidFill>
                <a:latin typeface="Calibri"/>
              </a:rPr>
              <a:t>•  </a:t>
            </a:r>
            <a:r>
              <a:rPr b="0" lang="en-US" sz="1700" spc="-1" strike="noStrike">
                <a:solidFill>
                  <a:srgbClr val="444444"/>
                </a:solidFill>
                <a:latin typeface="Calibri"/>
              </a:rPr>
              <a:t>URDF link frames are not on DH axes -&gt; table was identified numerically</a:t>
            </a:r>
            <a:endParaRPr b="0" lang="en-US" sz="1700" spc="-1" strike="noStrike">
              <a:solidFill>
                <a:srgbClr val="000000"/>
              </a:solidFill>
              <a:latin typeface="Arial"/>
            </a:endParaRPr>
          </a:p>
          <a:p>
            <a:pPr defTabSz="457200">
              <a:lnSpc>
                <a:spcPct val="100000"/>
              </a:lnSpc>
              <a:spcAft>
                <a:spcPts val="799"/>
              </a:spcAft>
            </a:pPr>
            <a:r>
              <a:rPr b="0" lang="en-US" sz="1700" spc="-1" strike="noStrike">
                <a:solidFill>
                  <a:srgbClr val="444444"/>
                </a:solidFill>
                <a:latin typeface="Calibri"/>
              </a:rPr>
              <a:t>•  </a:t>
            </a:r>
            <a:r>
              <a:rPr b="0" lang="en-US" sz="1700" spc="-1" strike="noStrike">
                <a:solidFill>
                  <a:srgbClr val="444444"/>
                </a:solidFill>
                <a:latin typeface="Calibri"/>
              </a:rPr>
              <a:t>Fit (alpha, a, d, theta-offset) so DH-FK reproduces URDF-FK</a:t>
            </a:r>
            <a:endParaRPr b="0" lang="en-US" sz="1700" spc="-1" strike="noStrike">
              <a:solidFill>
                <a:srgbClr val="000000"/>
              </a:solidFill>
              <a:latin typeface="Arial"/>
            </a:endParaRPr>
          </a:p>
          <a:p>
            <a:pPr defTabSz="457200">
              <a:lnSpc>
                <a:spcPct val="100000"/>
              </a:lnSpc>
              <a:spcAft>
                <a:spcPts val="799"/>
              </a:spcAft>
            </a:pPr>
            <a:r>
              <a:rPr b="0" lang="en-US" sz="1700" spc="-1" strike="noStrike">
                <a:solidFill>
                  <a:srgbClr val="444444"/>
                </a:solidFill>
                <a:latin typeface="Calibri"/>
              </a:rPr>
              <a:t>•  </a:t>
            </a:r>
            <a:r>
              <a:rPr b="0" lang="en-US" sz="1700" spc="-1" strike="noStrike">
                <a:solidFill>
                  <a:srgbClr val="444444"/>
                </a:solidFill>
                <a:latin typeface="Calibri"/>
              </a:rPr>
              <a:t>Residual is machine-zero: max |DH-FK - URDF-FK| ~ 1e-15 m</a:t>
            </a:r>
            <a:endParaRPr b="0" lang="en-US" sz="1700" spc="-1" strike="noStrike">
              <a:solidFill>
                <a:srgbClr val="000000"/>
              </a:solidFill>
              <a:latin typeface="Arial"/>
            </a:endParaRPr>
          </a:p>
          <a:p>
            <a:pPr defTabSz="457200">
              <a:lnSpc>
                <a:spcPct val="100000"/>
              </a:lnSpc>
              <a:spcAft>
                <a:spcPts val="799"/>
              </a:spcAft>
            </a:pPr>
            <a:r>
              <a:rPr b="0" lang="en-US" sz="1700" spc="-1" strike="noStrike">
                <a:solidFill>
                  <a:srgbClr val="444444"/>
                </a:solidFill>
                <a:latin typeface="Calibri"/>
              </a:rPr>
              <a:t>•  </a:t>
            </a:r>
            <a:r>
              <a:rPr b="0" lang="en-US" sz="1700" spc="-1" strike="noStrike">
                <a:solidFill>
                  <a:srgbClr val="444444"/>
                </a:solidFill>
                <a:latin typeface="Calibri"/>
              </a:rPr>
              <a:t>Physically clean 'concentrated' convention chosen for readability</a:t>
            </a:r>
            <a:endParaRPr b="0" lang="en-US" sz="1700" spc="-1" strike="noStrike">
              <a:solidFill>
                <a:srgbClr val="000000"/>
              </a:solidFill>
              <a:latin typeface="Arial"/>
            </a:endParaRPr>
          </a:p>
        </p:txBody>
      </p:sp>
      <p:graphicFrame>
        <p:nvGraphicFramePr>
          <p:cNvPr id="84" name="Table 4"/>
          <p:cNvGraphicFramePr/>
          <p:nvPr/>
        </p:nvGraphicFramePr>
        <p:xfrm>
          <a:off x="2560320" y="3749040"/>
          <a:ext cx="6857640" cy="2713320"/>
        </p:xfrm>
        <a:graphic>
          <a:graphicData uri="http://schemas.openxmlformats.org/drawingml/2006/table">
            <a:tbl>
              <a:tblPr/>
              <a:tblGrid>
                <a:gridCol w="1371600"/>
                <a:gridCol w="1371600"/>
                <a:gridCol w="1371600"/>
                <a:gridCol w="1371600"/>
                <a:gridCol w="1371600"/>
              </a:tblGrid>
              <a:tr h="365760">
                <a:tc>
                  <a:txBody>
                    <a:bodyPr anchor="t">
                      <a:noAutofit/>
                    </a:bodyPr>
                    <a:p>
                      <a:pPr defTabSz="457200">
                        <a:lnSpc>
                          <a:spcPct val="100000"/>
                        </a:lnSpc>
                      </a:pPr>
                      <a:r>
                        <a:rPr b="1" lang="en-US" sz="1400" spc="-1" strike="noStrike">
                          <a:solidFill>
                            <a:srgbClr val="ffffff"/>
                          </a:solidFill>
                          <a:latin typeface="Calibri"/>
                        </a:rPr>
                        <a:t>i</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1" lang="en-US" sz="1400" spc="-1" strike="noStrike">
                          <a:solidFill>
                            <a:srgbClr val="ffffff"/>
                          </a:solidFill>
                          <a:latin typeface="Calibri"/>
                        </a:rPr>
                        <a:t>alpha (deg)</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1" lang="en-US" sz="1400" spc="-1" strike="noStrike">
                          <a:solidFill>
                            <a:srgbClr val="ffffff"/>
                          </a:solidFill>
                          <a:latin typeface="Calibri"/>
                        </a:rPr>
                        <a:t>a (m)</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1" lang="en-US" sz="1400" spc="-1" strike="noStrike">
                          <a:solidFill>
                            <a:srgbClr val="ffffff"/>
                          </a:solidFill>
                          <a:latin typeface="Calibri"/>
                        </a:rPr>
                        <a:t>d (m)</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1" lang="en-US" sz="1400" spc="-1" strike="noStrike">
                          <a:solidFill>
                            <a:srgbClr val="ffffff"/>
                          </a:solidFill>
                          <a:latin typeface="Calibri"/>
                        </a:rPr>
                        <a:t>theta off (deg)</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365760">
                <a:tc>
                  <a:txBody>
                    <a:bodyPr anchor="t">
                      <a:noAutofit/>
                    </a:bodyPr>
                    <a:p>
                      <a:pPr defTabSz="457200">
                        <a:lnSpc>
                          <a:spcPct val="100000"/>
                        </a:lnSpc>
                      </a:pPr>
                      <a:r>
                        <a:rPr b="0" lang="en-US" sz="1300" spc="-1" strike="noStrike">
                          <a:solidFill>
                            <a:srgbClr val="000000"/>
                          </a:solidFill>
                          <a:latin typeface="Calibri"/>
                        </a:rPr>
                        <a:t>1</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0.13056</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+90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365760">
                <a:tc>
                  <a:txBody>
                    <a:bodyPr anchor="t">
                      <a:noAutofit/>
                    </a:bodyPr>
                    <a:p>
                      <a:pPr defTabSz="457200">
                        <a:lnSpc>
                          <a:spcPct val="100000"/>
                        </a:lnSpc>
                      </a:pPr>
                      <a:r>
                        <a:rPr b="0" lang="en-US" sz="1300" spc="-1" strike="noStrike">
                          <a:solidFill>
                            <a:srgbClr val="000000"/>
                          </a:solidFill>
                          <a:latin typeface="Calibri"/>
                        </a:rPr>
                        <a:t>2</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+90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-90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b="0" lang="en-US" sz="1300" spc="-1" strike="noStrike">
                          <a:solidFill>
                            <a:srgbClr val="000000"/>
                          </a:solidFill>
                          <a:latin typeface="Calibri"/>
                        </a:rPr>
                        <a:t>3</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-0.1104</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365760">
                <a:tc>
                  <a:txBody>
                    <a:bodyPr anchor="t">
                      <a:noAutofit/>
                    </a:bodyPr>
                    <a:p>
                      <a:pPr defTabSz="457200">
                        <a:lnSpc>
                          <a:spcPct val="100000"/>
                        </a:lnSpc>
                      </a:pPr>
                      <a:r>
                        <a:rPr b="0" lang="en-US" sz="1300" spc="-1" strike="noStrike">
                          <a:solidFill>
                            <a:srgbClr val="000000"/>
                          </a:solidFill>
                          <a:latin typeface="Calibri"/>
                        </a:rPr>
                        <a:t>4</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-0.096</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0.06062</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-90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b="0" lang="en-US" sz="1300" spc="-1" strike="noStrike">
                          <a:solidFill>
                            <a:srgbClr val="000000"/>
                          </a:solidFill>
                          <a:latin typeface="Calibri"/>
                        </a:rPr>
                        <a:t>5</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+90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0.07318</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300" spc="-1" strike="noStrike">
                          <a:solidFill>
                            <a:srgbClr val="000000"/>
                          </a:solidFill>
                          <a:latin typeface="Calibri"/>
                        </a:rPr>
                        <a:t>+90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365760">
                <a:tc>
                  <a:txBody>
                    <a:bodyPr anchor="t">
                      <a:noAutofit/>
                    </a:bodyPr>
                    <a:p>
                      <a:pPr defTabSz="457200">
                        <a:lnSpc>
                          <a:spcPct val="100000"/>
                        </a:lnSpc>
                      </a:pPr>
                      <a:r>
                        <a:rPr b="0" lang="en-US" sz="1300" spc="-1" strike="noStrike">
                          <a:solidFill>
                            <a:srgbClr val="000000"/>
                          </a:solidFill>
                          <a:latin typeface="Calibri"/>
                        </a:rPr>
                        <a:t>6</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-90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0.0456</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300" spc="-1" strike="noStrike">
                          <a:solidFill>
                            <a:srgbClr val="000000"/>
                          </a:solidFill>
                          <a:latin typeface="Calibri"/>
                        </a:rPr>
                        <a:t>0</a:t>
                      </a:r>
                      <a:endParaRPr b="0" lang="en-US" sz="13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Forward Kinematics</a:t>
            </a:r>
            <a:endParaRPr b="0" lang="en-US" sz="3000" spc="-1" strike="noStrike">
              <a:solidFill>
                <a:srgbClr val="000000"/>
              </a:solidFill>
              <a:latin typeface="Arial"/>
            </a:endParaRPr>
          </a:p>
        </p:txBody>
      </p:sp>
      <p:sp>
        <p:nvSpPr>
          <p:cNvPr id="86" name="TextBox 2"/>
          <p:cNvSpPr/>
          <p:nvPr/>
        </p:nvSpPr>
        <p:spPr>
          <a:xfrm>
            <a:off x="4502520" y="960120"/>
            <a:ext cx="31557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Product of the six link transforms</a:t>
            </a:r>
            <a:endParaRPr b="0" lang="en-US" sz="1600" spc="-1" strike="noStrike">
              <a:solidFill>
                <a:srgbClr val="000000"/>
              </a:solidFill>
              <a:latin typeface="Arial"/>
            </a:endParaRPr>
          </a:p>
        </p:txBody>
      </p:sp>
      <p:sp>
        <p:nvSpPr>
          <p:cNvPr id="87" name="TextBox 3"/>
          <p:cNvSpPr/>
          <p:nvPr/>
        </p:nvSpPr>
        <p:spPr>
          <a:xfrm>
            <a:off x="457200" y="1554480"/>
            <a:ext cx="5668920" cy="1389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T_EE = T1·T2·T3·T4·T5·T6</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Home pose (all joints 0): tool at (0.061, 0.046, 0.410) m</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Independently confirmed by ikpy's FK (~1e-16 m)</a:t>
            </a:r>
            <a:endParaRPr b="0" lang="en-US" sz="1800" spc="-1" strike="noStrike">
              <a:solidFill>
                <a:srgbClr val="000000"/>
              </a:solidFill>
              <a:latin typeface="Arial"/>
            </a:endParaRPr>
          </a:p>
        </p:txBody>
      </p:sp>
      <p:pic>
        <p:nvPicPr>
          <p:cNvPr id="88" name="Picture 4" descr="fig_home_pose.png"/>
          <p:cNvPicPr/>
          <p:nvPr/>
        </p:nvPicPr>
        <p:blipFill>
          <a:blip r:embed="rId1"/>
          <a:stretch/>
        </p:blipFill>
        <p:spPr>
          <a:xfrm>
            <a:off x="6309360" y="1554480"/>
            <a:ext cx="5577480" cy="47347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Jacobian — Velocity Propagation</a:t>
            </a:r>
            <a:endParaRPr b="0" lang="en-US" sz="3000" spc="-1" strike="noStrike">
              <a:solidFill>
                <a:srgbClr val="000000"/>
              </a:solidFill>
              <a:latin typeface="Arial"/>
            </a:endParaRPr>
          </a:p>
        </p:txBody>
      </p:sp>
      <p:sp>
        <p:nvSpPr>
          <p:cNvPr id="90" name="TextBox 2"/>
          <p:cNvSpPr/>
          <p:nvPr/>
        </p:nvSpPr>
        <p:spPr>
          <a:xfrm>
            <a:off x="3541680" y="960120"/>
            <a:ext cx="50778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Built frame-by-frame, verified against finite differences</a:t>
            </a:r>
            <a:endParaRPr b="0" lang="en-US" sz="1600" spc="-1" strike="noStrike">
              <a:solidFill>
                <a:srgbClr val="000000"/>
              </a:solidFill>
              <a:latin typeface="Arial"/>
            </a:endParaRPr>
          </a:p>
        </p:txBody>
      </p:sp>
      <p:sp>
        <p:nvSpPr>
          <p:cNvPr id="91" name="TextBox 3"/>
          <p:cNvSpPr/>
          <p:nvPr/>
        </p:nvSpPr>
        <p:spPr>
          <a:xfrm>
            <a:off x="640080" y="1554480"/>
            <a:ext cx="10881000" cy="1613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Propagate angular &amp; linear velocity outward: base -&gt; tool</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For revolute joints reduces to columns [ z_i x (p_e - p_i) ; z_i ]</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Maps joint rates to tool twist: [v; omega] = J(q) q_dot</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Verified vs numerical Jacobian to ~2.5e-7</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Reachable Workspace (verified)</a:t>
            </a:r>
            <a:endParaRPr b="0" lang="en-US" sz="3000" spc="-1" strike="noStrike">
              <a:solidFill>
                <a:srgbClr val="000000"/>
              </a:solidFill>
              <a:latin typeface="Arial"/>
            </a:endParaRPr>
          </a:p>
        </p:txBody>
      </p:sp>
      <p:sp>
        <p:nvSpPr>
          <p:cNvPr id="93" name="TextBox 2"/>
          <p:cNvSpPr/>
          <p:nvPr/>
        </p:nvSpPr>
        <p:spPr>
          <a:xfrm>
            <a:off x="3754080" y="960120"/>
            <a:ext cx="46526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Where the tool can go — the sine sits well inside it</a:t>
            </a:r>
            <a:endParaRPr b="0" lang="en-US" sz="1600" spc="-1" strike="noStrike">
              <a:solidFill>
                <a:srgbClr val="000000"/>
              </a:solidFill>
              <a:latin typeface="Arial"/>
            </a:endParaRPr>
          </a:p>
        </p:txBody>
      </p:sp>
      <p:sp>
        <p:nvSpPr>
          <p:cNvPr id="94" name="TextBox 3"/>
          <p:cNvSpPr/>
          <p:nvPr/>
        </p:nvSpPr>
        <p:spPr>
          <a:xfrm>
            <a:off x="457200" y="1554480"/>
            <a:ext cx="5668920" cy="2040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Sampled by FK over 40,000 valid joint configurations</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Max 3D reach 0.427 m; max horizontal reach 0.301 m</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Cross-checked against ikpy FK to ~1.7e-16 m</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The demo sine lies safely inside the reachable set</a:t>
            </a:r>
            <a:endParaRPr b="0" lang="en-US" sz="1800" spc="-1" strike="noStrike">
              <a:solidFill>
                <a:srgbClr val="000000"/>
              </a:solidFill>
              <a:latin typeface="Arial"/>
            </a:endParaRPr>
          </a:p>
        </p:txBody>
      </p:sp>
      <p:pic>
        <p:nvPicPr>
          <p:cNvPr id="95" name="Picture 4" descr="fig_reachable_workspace.png"/>
          <p:cNvPicPr/>
          <p:nvPr/>
        </p:nvPicPr>
        <p:blipFill>
          <a:blip r:embed="rId1"/>
          <a:stretch/>
        </p:blipFill>
        <p:spPr>
          <a:xfrm>
            <a:off x="6309360" y="1554480"/>
            <a:ext cx="5577480" cy="19699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Inverse Kinematics — Damped Least Squares</a:t>
            </a:r>
            <a:endParaRPr b="0" lang="en-US" sz="3000" spc="-1" strike="noStrike">
              <a:solidFill>
                <a:srgbClr val="000000"/>
              </a:solidFill>
              <a:latin typeface="Arial"/>
            </a:endParaRPr>
          </a:p>
        </p:txBody>
      </p:sp>
      <p:sp>
        <p:nvSpPr>
          <p:cNvPr id="97" name="TextBox 2"/>
          <p:cNvSpPr/>
          <p:nvPr/>
        </p:nvSpPr>
        <p:spPr>
          <a:xfrm>
            <a:off x="4147560" y="960120"/>
            <a:ext cx="38660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Jacobian-based, robust near singularities</a:t>
            </a:r>
            <a:endParaRPr b="0" lang="en-US" sz="1600" spc="-1" strike="noStrike">
              <a:solidFill>
                <a:srgbClr val="000000"/>
              </a:solidFill>
              <a:latin typeface="Arial"/>
            </a:endParaRPr>
          </a:p>
        </p:txBody>
      </p:sp>
      <p:sp>
        <p:nvSpPr>
          <p:cNvPr id="98" name="TextBox 3"/>
          <p:cNvSpPr/>
          <p:nvPr/>
        </p:nvSpPr>
        <p:spPr>
          <a:xfrm>
            <a:off x="640080" y="1554480"/>
            <a:ext cx="10881000" cy="1613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q_(k+1) = q_k + J^T (J J^T + lambda^2 I)^(-1) e</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e = [position error ; orientation error] (6-vector)</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Damping lambda keeps updates stable near singularities</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~16 iterations per waypoint; solutions clamped to joint limits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Configurable Drawing Plane</a:t>
            </a:r>
            <a:endParaRPr b="0" lang="en-US" sz="3000" spc="-1" strike="noStrike">
              <a:solidFill>
                <a:srgbClr val="000000"/>
              </a:solidFill>
              <a:latin typeface="Arial"/>
            </a:endParaRPr>
          </a:p>
        </p:txBody>
      </p:sp>
      <p:sp>
        <p:nvSpPr>
          <p:cNvPr id="100" name="TextBox 2"/>
          <p:cNvSpPr/>
          <p:nvPr/>
        </p:nvSpPr>
        <p:spPr>
          <a:xfrm>
            <a:off x="4932360" y="960120"/>
            <a:ext cx="22964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Same code, any surface</a:t>
            </a:r>
            <a:endParaRPr b="0" lang="en-US" sz="1600" spc="-1" strike="noStrike">
              <a:solidFill>
                <a:srgbClr val="000000"/>
              </a:solidFill>
              <a:latin typeface="Arial"/>
            </a:endParaRPr>
          </a:p>
        </p:txBody>
      </p:sp>
      <p:sp>
        <p:nvSpPr>
          <p:cNvPr id="101" name="TextBox 3"/>
          <p:cNvSpPr/>
          <p:nvPr/>
        </p:nvSpPr>
        <p:spPr>
          <a:xfrm>
            <a:off x="640080" y="1554480"/>
            <a:ext cx="10881000" cy="1613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Plane defined by origin + two in-plane axes (advance u, wave v)</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Pen kept perpendicular to the surface (flange z along the normal)</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Solver auto-picks the reachable pen direction (+/- normal)</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Vertical board or flat plate — only the parameters change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Result — Drawing the Sine</a:t>
            </a:r>
            <a:endParaRPr b="0" lang="en-US" sz="3000" spc="-1" strike="noStrike">
              <a:solidFill>
                <a:srgbClr val="000000"/>
              </a:solidFill>
              <a:latin typeface="Arial"/>
            </a:endParaRPr>
          </a:p>
        </p:txBody>
      </p:sp>
      <p:sp>
        <p:nvSpPr>
          <p:cNvPr id="103" name="TextBox 2"/>
          <p:cNvSpPr/>
          <p:nvPr/>
        </p:nvSpPr>
        <p:spPr>
          <a:xfrm>
            <a:off x="3826800" y="960120"/>
            <a:ext cx="45075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Tool traces the target to sub-millimetre accuracy</a:t>
            </a:r>
            <a:endParaRPr b="0" lang="en-US" sz="1600" spc="-1" strike="noStrike">
              <a:solidFill>
                <a:srgbClr val="000000"/>
              </a:solidFill>
              <a:latin typeface="Arial"/>
            </a:endParaRPr>
          </a:p>
        </p:txBody>
      </p:sp>
      <p:sp>
        <p:nvSpPr>
          <p:cNvPr id="104" name="TextBox 3"/>
          <p:cNvSpPr/>
          <p:nvPr/>
        </p:nvSpPr>
        <p:spPr>
          <a:xfrm>
            <a:off x="457200" y="1554480"/>
            <a:ext cx="5668920" cy="1664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20 cm wide, 10 cm tall, 2-cycle sine on a vertical board</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Pen held perpendicular to the board throughout</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Drawn path overlays the target essentially perfectly</a:t>
            </a:r>
            <a:endParaRPr b="0" lang="en-US" sz="1800" spc="-1" strike="noStrike">
              <a:solidFill>
                <a:srgbClr val="000000"/>
              </a:solidFill>
              <a:latin typeface="Arial"/>
            </a:endParaRPr>
          </a:p>
        </p:txBody>
      </p:sp>
      <p:pic>
        <p:nvPicPr>
          <p:cNvPr id="105" name="Picture 4" descr="fig_draw_montage.png"/>
          <p:cNvPicPr/>
          <p:nvPr/>
        </p:nvPicPr>
        <p:blipFill>
          <a:blip r:embed="rId1"/>
          <a:stretch/>
        </p:blipFill>
        <p:spPr>
          <a:xfrm>
            <a:off x="6309360" y="1554480"/>
            <a:ext cx="5577480" cy="32407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Accuracy and Verification</a:t>
            </a:r>
            <a:endParaRPr b="0" lang="en-US" sz="3000" spc="-1" strike="noStrike">
              <a:solidFill>
                <a:srgbClr val="000000"/>
              </a:solidFill>
              <a:latin typeface="Arial"/>
            </a:endParaRPr>
          </a:p>
        </p:txBody>
      </p:sp>
      <p:sp>
        <p:nvSpPr>
          <p:cNvPr id="107" name="TextBox 2"/>
          <p:cNvSpPr/>
          <p:nvPr/>
        </p:nvSpPr>
        <p:spPr>
          <a:xfrm>
            <a:off x="4793760" y="960120"/>
            <a:ext cx="25736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Numbers behind the result</a:t>
            </a:r>
            <a:endParaRPr b="0" lang="en-US" sz="1600" spc="-1" strike="noStrike">
              <a:solidFill>
                <a:srgbClr val="000000"/>
              </a:solidFill>
              <a:latin typeface="Arial"/>
            </a:endParaRPr>
          </a:p>
        </p:txBody>
      </p:sp>
      <p:sp>
        <p:nvSpPr>
          <p:cNvPr id="108" name="TextBox 3"/>
          <p:cNvSpPr/>
          <p:nvPr/>
        </p:nvSpPr>
        <p:spPr>
          <a:xfrm>
            <a:off x="457200" y="1554480"/>
            <a:ext cx="5668920" cy="1765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DH-FK vs URDF-FK: ~1e-15 m</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Velocity-propagation Jacobian vs finite differences: ~2.5e-7</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Analytical IK tracking error: ~0.001 mm</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ikpy cross-check on every waypoint: ~0.001 mm</a:t>
            </a:r>
            <a:endParaRPr b="0" lang="en-US" sz="1800" spc="-1" strike="noStrike">
              <a:solidFill>
                <a:srgbClr val="000000"/>
              </a:solidFill>
              <a:latin typeface="Arial"/>
            </a:endParaRPr>
          </a:p>
        </p:txBody>
      </p:sp>
      <p:pic>
        <p:nvPicPr>
          <p:cNvPr id="109" name="Picture 4" descr="fig_tracking_error.png"/>
          <p:cNvPicPr/>
          <p:nvPr/>
        </p:nvPicPr>
        <p:blipFill>
          <a:blip r:embed="rId1"/>
          <a:stretch/>
        </p:blipFill>
        <p:spPr>
          <a:xfrm>
            <a:off x="6309360" y="1554480"/>
            <a:ext cx="5577480" cy="23727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Analytical vs ikpy</a:t>
            </a:r>
            <a:endParaRPr b="0" lang="en-US" sz="3000" spc="-1" strike="noStrike">
              <a:solidFill>
                <a:srgbClr val="000000"/>
              </a:solidFill>
              <a:latin typeface="Arial"/>
            </a:endParaRPr>
          </a:p>
        </p:txBody>
      </p:sp>
      <p:sp>
        <p:nvSpPr>
          <p:cNvPr id="111" name="TextBox 2"/>
          <p:cNvSpPr/>
          <p:nvPr/>
        </p:nvSpPr>
        <p:spPr>
          <a:xfrm>
            <a:off x="4359240" y="960120"/>
            <a:ext cx="344232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Independent methods, same answer</a:t>
            </a:r>
            <a:endParaRPr b="0" lang="en-US" sz="1600" spc="-1" strike="noStrike">
              <a:solidFill>
                <a:srgbClr val="000000"/>
              </a:solidFill>
              <a:latin typeface="Arial"/>
            </a:endParaRPr>
          </a:p>
        </p:txBody>
      </p:sp>
      <p:sp>
        <p:nvSpPr>
          <p:cNvPr id="112" name="TextBox 3"/>
          <p:cNvSpPr/>
          <p:nvPr/>
        </p:nvSpPr>
        <p:spPr>
          <a:xfrm>
            <a:off x="457200" y="1554480"/>
            <a:ext cx="5668920" cy="1389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My analytical FK/Jacobian/IK vs the ikpy library</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All agreement checks are far below 1 mm (log scale)</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Both solvers trace the same sine</a:t>
            </a:r>
            <a:endParaRPr b="0" lang="en-US" sz="1800" spc="-1" strike="noStrike">
              <a:solidFill>
                <a:srgbClr val="000000"/>
              </a:solidFill>
              <a:latin typeface="Arial"/>
            </a:endParaRPr>
          </a:p>
        </p:txBody>
      </p:sp>
      <p:pic>
        <p:nvPicPr>
          <p:cNvPr id="113" name="Picture 4" descr="fig_method_comparison.png"/>
          <p:cNvPicPr/>
          <p:nvPr/>
        </p:nvPicPr>
        <p:blipFill>
          <a:blip r:embed="rId1"/>
          <a:stretch/>
        </p:blipFill>
        <p:spPr>
          <a:xfrm>
            <a:off x="277200" y="3200400"/>
            <a:ext cx="10924200" cy="34747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ROS 2 Architecture</a:t>
            </a:r>
            <a:endParaRPr b="0" lang="en-US" sz="3000" spc="-1" strike="noStrike">
              <a:solidFill>
                <a:srgbClr val="000000"/>
              </a:solidFill>
              <a:latin typeface="Arial"/>
            </a:endParaRPr>
          </a:p>
        </p:txBody>
      </p:sp>
      <p:sp>
        <p:nvSpPr>
          <p:cNvPr id="115" name="TextBox 2"/>
          <p:cNvSpPr/>
          <p:nvPr/>
        </p:nvSpPr>
        <p:spPr>
          <a:xfrm>
            <a:off x="4660200" y="960120"/>
            <a:ext cx="28404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i="1" lang="en-US" sz="1600" spc="-1" strike="noStrike">
                <a:solidFill>
                  <a:srgbClr val="d62728"/>
                </a:solidFill>
                <a:latin typeface="Calibri"/>
              </a:rPr>
              <a:t>Clean, separate Python nodes</a:t>
            </a:r>
            <a:endParaRPr b="0" lang="en-US" sz="1600" spc="-1" strike="noStrike">
              <a:solidFill>
                <a:srgbClr val="000000"/>
              </a:solidFill>
              <a:latin typeface="Arial"/>
            </a:endParaRPr>
          </a:p>
        </p:txBody>
      </p:sp>
      <p:sp>
        <p:nvSpPr>
          <p:cNvPr id="116" name="TextBox 3"/>
          <p:cNvSpPr/>
          <p:nvPr/>
        </p:nvSpPr>
        <p:spPr>
          <a:xfrm>
            <a:off x="640080" y="1554480"/>
            <a:ext cx="10881000" cy="1613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kinematics.py / ik.py / sine_path.py — pure math, no ROS</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sine_ik_node — precomputes IK, streams /joint_states at 30 Hz</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path_tracer_node — accumulates the real drawn line from TF</a:t>
            </a:r>
            <a:endParaRPr b="0" lang="en-US" sz="2000" spc="-1" strike="noStrike">
              <a:solidFill>
                <a:srgbClr val="000000"/>
              </a:solidFill>
              <a:latin typeface="Arial"/>
            </a:endParaRPr>
          </a:p>
          <a:p>
            <a:pPr defTabSz="457200">
              <a:lnSpc>
                <a:spcPct val="100000"/>
              </a:lnSpc>
              <a:spcAft>
                <a:spcPts val="799"/>
              </a:spcAft>
            </a:pPr>
            <a:r>
              <a:rPr b="0" lang="en-US" sz="2000" spc="-1" strike="noStrike">
                <a:solidFill>
                  <a:srgbClr val="444444"/>
                </a:solidFill>
                <a:latin typeface="Calibri"/>
              </a:rPr>
              <a:t>•  </a:t>
            </a:r>
            <a:r>
              <a:rPr b="0" lang="en-US" sz="2000" spc="-1" strike="noStrike">
                <a:solidFill>
                  <a:srgbClr val="444444"/>
                </a:solidFill>
                <a:latin typeface="Calibri"/>
              </a:rPr>
              <a:t>One launch file -&gt; robot_state_publisher + nodes + RViz</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Box 1"/>
          <p:cNvSpPr/>
          <p:nvPr/>
        </p:nvSpPr>
        <p:spPr>
          <a:xfrm>
            <a:off x="457200" y="228600"/>
            <a:ext cx="1124676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f3a5f"/>
                </a:solidFill>
                <a:latin typeface="Calibri"/>
              </a:rPr>
              <a:t>Conclusion and Future Work</a:t>
            </a:r>
            <a:endParaRPr b="0" lang="en-US" sz="3000" spc="-1" strike="noStrike">
              <a:solidFill>
                <a:srgbClr val="000000"/>
              </a:solidFill>
              <a:latin typeface="Arial"/>
            </a:endParaRPr>
          </a:p>
        </p:txBody>
      </p:sp>
      <p:sp>
        <p:nvSpPr>
          <p:cNvPr id="118" name="TextBox 2"/>
          <p:cNvSpPr/>
          <p:nvPr/>
        </p:nvSpPr>
        <p:spPr>
          <a:xfrm>
            <a:off x="457200" y="1554480"/>
            <a:ext cx="5668920" cy="25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First-principles kinematics, fully verified, drawing a sine in ROS 2</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General plane + shape: extensible beyond a sine on a board</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Next: run on the physical myCobot 280; add a real pen and contact</a:t>
            </a:r>
            <a:endParaRPr b="0" lang="en-US" sz="1800" spc="-1" strike="noStrike">
              <a:solidFill>
                <a:srgbClr val="000000"/>
              </a:solidFill>
              <a:latin typeface="Arial"/>
            </a:endParaRPr>
          </a:p>
          <a:p>
            <a:pPr defTabSz="457200">
              <a:lnSpc>
                <a:spcPct val="100000"/>
              </a:lnSpc>
              <a:spcAft>
                <a:spcPts val="799"/>
              </a:spcAft>
            </a:pPr>
            <a:r>
              <a:rPr b="0" lang="en-US" sz="1800" spc="-1" strike="noStrike">
                <a:solidFill>
                  <a:srgbClr val="444444"/>
                </a:solidFill>
                <a:latin typeface="Calibri"/>
              </a:rPr>
              <a:t>•  </a:t>
            </a:r>
            <a:r>
              <a:rPr b="0" lang="en-US" sz="1800" spc="-1" strike="noStrike">
                <a:solidFill>
                  <a:srgbClr val="444444"/>
                </a:solidFill>
                <a:latin typeface="Calibri"/>
              </a:rPr>
              <a:t>Next: Gazebo physics; trajectory timing / velocity limits</a:t>
            </a:r>
            <a:endParaRPr b="0" lang="en-US" sz="1800" spc="-1" strike="noStrike">
              <a:solidFill>
                <a:srgbClr val="000000"/>
              </a:solidFill>
              <a:latin typeface="Arial"/>
            </a:endParaRPr>
          </a:p>
        </p:txBody>
      </p:sp>
      <p:pic>
        <p:nvPicPr>
          <p:cNvPr id="119" name="Picture 3" descr="fig_sine_3d.png"/>
          <p:cNvPicPr/>
          <p:nvPr/>
        </p:nvPicPr>
        <p:blipFill>
          <a:blip r:embed="rId1"/>
          <a:stretch/>
        </p:blipFill>
        <p:spPr>
          <a:xfrm>
            <a:off x="6309360" y="1554480"/>
            <a:ext cx="5577480" cy="40312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2026-07-02T16:44:30Z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